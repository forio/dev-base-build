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Total Profit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DB2777"/>
              </a:solidFill>
            </c:spPr>
          </c:dPt>
          <c:cat>
            <c:strRef>
              <c:f>Sheet1!$A$2:$A$5</c:f>
              <c:strCache>
                <c:ptCount val="4"/>
                <c:pt idx="0">
                  <c:v>Player A</c:v>
                </c:pt>
                <c:pt idx="1">
                  <c:v>Player B</c:v>
                </c:pt>
                <c:pt idx="2">
                  <c:v>Player C</c:v>
                </c:pt>
                <c:pt idx="3">
                  <c:v>Player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486000</c:v>
                </c:pt>
                <c:pt idx="1">
                  <c:v>421500</c:v>
                </c:pt>
                <c:pt idx="2">
                  <c:v>362000</c:v>
                </c:pt>
                <c:pt idx="3">
                  <c:v>318750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Player A</c:v>
                </c:pt>
              </c:strCache>
            </c:strRef>
          </c:tx>
          <c:spPr>
            <a:ln w="28575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60000</c:v>
                </c:pt>
                <c:pt idx="1">
                  <c:v>130000</c:v>
                </c:pt>
                <c:pt idx="2">
                  <c:v>240000</c:v>
                </c:pt>
                <c:pt idx="3">
                  <c:v>360000</c:v>
                </c:pt>
                <c:pt idx="4">
                  <c:v>486000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Player B</c:v>
                </c:pt>
              </c:strCache>
            </c:strRef>
          </c:tx>
          <c:spPr>
            <a:ln w="28575">
              <a:solidFill>
                <a:srgbClr val="F9731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55000</c:v>
                </c:pt>
                <c:pt idx="1">
                  <c:v>120000</c:v>
                </c:pt>
                <c:pt idx="2">
                  <c:v>210000</c:v>
                </c:pt>
                <c:pt idx="3">
                  <c:v>320000</c:v>
                </c:pt>
                <c:pt idx="4">
                  <c:v>421500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Player C</c:v>
                </c:pt>
              </c:strCache>
            </c:strRef>
          </c:tx>
          <c:spPr>
            <a:ln w="28575">
              <a:solidFill>
                <a:srgbClr val="16A34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48000</c:v>
                </c:pt>
                <c:pt idx="1">
                  <c:v>110000</c:v>
                </c:pt>
                <c:pt idx="2">
                  <c:v>200000</c:v>
                </c:pt>
                <c:pt idx="3">
                  <c:v>300000</c:v>
                </c:pt>
                <c:pt idx="4">
                  <c:v>362000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DB2777"/>
              </a:solidFill>
            </c:spPr>
          </c:dPt>
          <c:cat>
            <c:strRef>
              <c:f>Sheet1!$A$2:$A$5</c:f>
              <c:strCache>
                <c:ptCount val="4"/>
                <c:pt idx="0">
                  <c:v>Player A</c:v>
                </c:pt>
                <c:pt idx="1">
                  <c:v>Player B</c:v>
                </c:pt>
                <c:pt idx="2">
                  <c:v>Player C</c:v>
                </c:pt>
                <c:pt idx="3">
                  <c:v>Player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1240000</c:v>
                </c:pt>
                <c:pt idx="1">
                  <c:v>1180000</c:v>
                </c:pt>
                <c:pt idx="2">
                  <c:v>980000</c:v>
                </c:pt>
                <c:pt idx="3">
                  <c:v>1050000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822960"/>
            <a:ext cx="2194560" cy="21945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-822960"/>
            <a:ext cx="2194560" cy="21945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Calibri"/>
              </a:rPr>
              <a:t>EPICENTER SIMULATION 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entury Schoolbook"/>
              </a:rPr>
              <a:t>${title}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CADCFC"/>
                </a:solidFill>
                <a:latin typeface="Calibri"/>
              </a:rPr>
              <a:t>${subtitle}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FB3CC"/>
                </a:solidFill>
                <a:latin typeface="Calibri"/>
              </a:rPr>
              <a:t>${groupName}   •   ${episodeLabel}   •   ${participantCount} players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Generated ${generatedOn}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How to Read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Each participant ran a bike shop and set a price for several years. The three result slides that follow summarize how they did.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2971800"/>
            <a:ext cx="731520" cy="73152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Final Standings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A ranked table of every player by total profit, with average price and total revenue for the rounds they played.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0288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10328" y="2971800"/>
            <a:ext cx="731520" cy="7315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Profit by 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0328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A bar chart comparing each player's cumulative profit — the quickest read on who ran the strongest shop.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57616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77656" y="2971800"/>
            <a:ext cx="731520" cy="73152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7656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Profit over time as a line per player, plus a pie showing each player's share of total revenue.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Generated ${generatedOn}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Final Standings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  <a:latin typeface="Calibri"/>
              </a:rPr>
              <a:t>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${topPerformer}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0288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10328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Calibri"/>
              </a:rPr>
              <a:t>WINNING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0328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${topProfit}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57616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  <a:latin typeface="Calibri"/>
              </a:rPr>
              <a:t>AVERAGE 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7656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${averageProfit}</a:t>
            </a:r>
          </a:p>
        </p:txBody>
      </p:sp>
      <p:graphicFrame>
        <p:nvGraphicFramePr>
          <p:cNvPr id="13" name="FinalStandings"/>
          <p:cNvGraphicFramePr>
            <a:graphicFrameLocks noGrp="1"/>
          </p:cNvGraphicFramePr>
          <p:nvPr/>
        </p:nvGraphicFramePr>
        <p:xfrm>
          <a:off x="822960" y="3063240"/>
          <a:ext cx="10881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1188720"/>
                <a:gridCol w="1554480"/>
                <a:gridCol w="1737360"/>
                <a:gridCol w="173736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Rounds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Avg. Price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Revenue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Profit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$142.00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$1,240,000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$486,000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B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$128.50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$1,180,000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$421,500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$155.00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$980,000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$362,000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D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$119.00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$1,050,000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$318,750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Profit by Player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Cumulative profit across every round played.</a:t>
            </a:r>
          </a:p>
        </p:txBody>
      </p:sp>
      <p:graphicFrame>
        <p:nvGraphicFramePr>
          <p:cNvPr id="5" name="ProfitByParticipant"/>
          <p:cNvGraphicFramePr>
            <a:graphicFrameLocks noGrp="1"/>
          </p:cNvGraphicFramePr>
          <p:nvPr/>
        </p:nvGraphicFramePr>
        <p:xfrm>
          <a:off x="822960" y="2011680"/>
          <a:ext cx="105156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entury Schoolbook"/>
              </a:rPr>
              <a:t>Profit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entury Schoolbook"/>
              </a:rPr>
              <a:t>Revenue share</a:t>
            </a:r>
          </a:p>
        </p:txBody>
      </p:sp>
      <p:graphicFrame>
        <p:nvGraphicFramePr>
          <p:cNvPr id="6" name="ProfitOverTime"/>
          <p:cNvGraphicFramePr>
            <a:graphicFrameLocks noGrp="1"/>
          </p:cNvGraphicFramePr>
          <p:nvPr/>
        </p:nvGraphicFramePr>
        <p:xfrm>
          <a:off x="822960" y="1965960"/>
          <a:ext cx="53949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RevenueShare"/>
          <p:cNvGraphicFramePr>
            <a:graphicFrameLocks noGrp="1"/>
          </p:cNvGraphicFramePr>
          <p:nvPr/>
        </p:nvGraphicFramePr>
        <p:xfrm>
          <a:off x="6400800" y="1965960"/>
          <a:ext cx="493776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