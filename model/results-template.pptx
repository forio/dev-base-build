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Total Profit</c:v>
                </c:pt>
              </c:strCache>
            </c:strRef>
          </c:tx>
          <c:dPt>
            <c:idx val="0"/>
            <c:spPr>
              <a:solidFill>
                <a:srgbClr val="2563EB"/>
              </a:solidFill>
            </c:spPr>
          </c:dPt>
          <c:dPt>
            <c:idx val="1"/>
            <c:spPr>
              <a:solidFill>
                <a:srgbClr val="F97316"/>
              </a:solidFill>
            </c:spPr>
          </c:dPt>
          <c:dPt>
            <c:idx val="2"/>
            <c:spPr>
              <a:solidFill>
                <a:srgbClr val="16A34A"/>
              </a:solidFill>
            </c:spPr>
          </c:dPt>
          <c:dPt>
            <c:idx val="3"/>
            <c:spPr>
              <a:solidFill>
                <a:srgbClr val="DB2777"/>
              </a:solidFill>
            </c:spPr>
          </c:dPt>
          <c:cat>
            <c:strRef>
              <c:f>Sheet1!$A$2:$A$5</c:f>
              <c:strCache>
                <c:ptCount val="4"/>
                <c:pt idx="0">
                  <c:v>Player A</c:v>
                </c:pt>
                <c:pt idx="1">
                  <c:v>Player B</c:v>
                </c:pt>
                <c:pt idx="2">
                  <c:v>Player C</c:v>
                </c:pt>
                <c:pt idx="3">
                  <c:v>Player 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486000</c:v>
                </c:pt>
                <c:pt idx="1">
                  <c:v>421500</c:v>
                </c:pt>
                <c:pt idx="2">
                  <c:v>362000</c:v>
                </c:pt>
                <c:pt idx="3">
                  <c:v>318750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&quot;$&quot;#,##0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Player A</c:v>
                </c:pt>
              </c:strCache>
            </c:strRef>
          </c:tx>
          <c:spPr>
            <a:ln w="28575">
              <a:solidFill>
                <a:srgbClr val="2563EB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60000</c:v>
                </c:pt>
                <c:pt idx="1">
                  <c:v>130000</c:v>
                </c:pt>
                <c:pt idx="2">
                  <c:v>240000</c:v>
                </c:pt>
                <c:pt idx="3">
                  <c:v>360000</c:v>
                </c:pt>
                <c:pt idx="4">
                  <c:v>486000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Player B</c:v>
                </c:pt>
              </c:strCache>
            </c:strRef>
          </c:tx>
          <c:spPr>
            <a:ln w="28575">
              <a:solidFill>
                <a:srgbClr val="F97316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55000</c:v>
                </c:pt>
                <c:pt idx="1">
                  <c:v>120000</c:v>
                </c:pt>
                <c:pt idx="2">
                  <c:v>210000</c:v>
                </c:pt>
                <c:pt idx="3">
                  <c:v>320000</c:v>
                </c:pt>
                <c:pt idx="4">
                  <c:v>421500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Player C</c:v>
                </c:pt>
              </c:strCache>
            </c:strRef>
          </c:tx>
          <c:spPr>
            <a:ln w="28575">
              <a:solidFill>
                <a:srgbClr val="16A34A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48000</c:v>
                </c:pt>
                <c:pt idx="1">
                  <c:v>110000</c:v>
                </c:pt>
                <c:pt idx="2">
                  <c:v>200000</c:v>
                </c:pt>
                <c:pt idx="3">
                  <c:v>300000</c:v>
                </c:pt>
                <c:pt idx="4">
                  <c:v>362000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&quot;$&quot;#,##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Total Revenue</c:v>
                </c:pt>
              </c:strCache>
            </c:strRef>
          </c:tx>
          <c:dPt>
            <c:idx val="0"/>
            <c:spPr>
              <a:solidFill>
                <a:srgbClr val="2563EB"/>
              </a:solidFill>
            </c:spPr>
          </c:dPt>
          <c:dPt>
            <c:idx val="1"/>
            <c:spPr>
              <a:solidFill>
                <a:srgbClr val="F97316"/>
              </a:solidFill>
            </c:spPr>
          </c:dPt>
          <c:dPt>
            <c:idx val="2"/>
            <c:spPr>
              <a:solidFill>
                <a:srgbClr val="16A34A"/>
              </a:solidFill>
            </c:spPr>
          </c:dPt>
          <c:dPt>
            <c:idx val="3"/>
            <c:spPr>
              <a:solidFill>
                <a:srgbClr val="DB2777"/>
              </a:solidFill>
            </c:spPr>
          </c:dPt>
          <c:cat>
            <c:strRef>
              <c:f>Sheet1!$A$2:$A$5</c:f>
              <c:strCache>
                <c:ptCount val="4"/>
                <c:pt idx="0">
                  <c:v>Player A</c:v>
                </c:pt>
                <c:pt idx="1">
                  <c:v>Player B</c:v>
                </c:pt>
                <c:pt idx="2">
                  <c:v>Player C</c:v>
                </c:pt>
                <c:pt idx="3">
                  <c:v>Player 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1240000</c:v>
                </c:pt>
                <c:pt idx="1">
                  <c:v>1180000</c:v>
                </c:pt>
                <c:pt idx="2">
                  <c:v>980000</c:v>
                </c:pt>
                <c:pt idx="3">
                  <c:v>1050000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822960"/>
            <a:ext cx="2194560" cy="219456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-822960"/>
            <a:ext cx="2194560" cy="219456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97316"/>
                </a:solidFill>
                <a:latin typeface="Calibri"/>
              </a:rPr>
              <a:t>EPICENTER SIMULATION DEBRIEF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entury Schoolbook"/>
              </a:rPr>
              <a:t>{{title}}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CADCFC"/>
                </a:solidFill>
                <a:latin typeface="Calibri"/>
              </a:rPr>
              <a:t>{{subtitle}}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292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9FB3CC"/>
                </a:solidFill>
                <a:latin typeface="Calibri"/>
              </a:rPr>
              <a:t>{{groupName}}   •   {{episodeLabel}}   •   {{participantCount}} players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Generated {{generatedOn}}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F2A43"/>
                </a:solidFill>
                <a:latin typeface="Century Schoolbook"/>
              </a:rPr>
              <a:t>How to Read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Calibri"/>
              </a:rPr>
              <a:t>Each participant ran a bike shop and set a price for several years. The three result slides that follow summarize how they did.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651760"/>
            <a:ext cx="3383280" cy="3108960"/>
          </a:xfrm>
          <a:prstGeom prst="rect">
            <a:avLst/>
          </a:prstGeom>
          <a:solidFill>
            <a:srgbClr val="F3F6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" y="2971800"/>
            <a:ext cx="731520" cy="73152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 i="0">
                <a:solidFill>
                  <a:srgbClr val="FFFFFF"/>
                </a:solidFill>
                <a:latin typeface="Century Schoolbook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977639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F2A43"/>
                </a:solidFill>
                <a:latin typeface="Century Schoolbook"/>
              </a:rPr>
              <a:t>Final Standings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61772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A ranked table of every player by total profit, with average price and total revenue for the rounds they played.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90288" y="2651760"/>
            <a:ext cx="3383280" cy="3108960"/>
          </a:xfrm>
          <a:prstGeom prst="rect">
            <a:avLst/>
          </a:prstGeom>
          <a:solidFill>
            <a:srgbClr val="F3F6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910328" y="2971800"/>
            <a:ext cx="731520" cy="7315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 i="0">
                <a:solidFill>
                  <a:srgbClr val="FFFFFF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0328" y="3977639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F2A43"/>
                </a:solidFill>
                <a:latin typeface="Century Schoolbook"/>
              </a:rPr>
              <a:t>Profit by Player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10328" y="461772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A bar chart comparing each player's cumulative profit — the quickest read on who ran the strongest shop.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57616" y="2651760"/>
            <a:ext cx="3383280" cy="3108960"/>
          </a:xfrm>
          <a:prstGeom prst="rect">
            <a:avLst/>
          </a:prstGeom>
          <a:solidFill>
            <a:srgbClr val="F3F6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77656" y="2971800"/>
            <a:ext cx="731520" cy="73152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 i="0">
                <a:solidFill>
                  <a:srgbClr val="FFFFFF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77656" y="3977639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F2A43"/>
                </a:solidFill>
                <a:latin typeface="Century Schoolbook"/>
              </a:rPr>
              <a:t>The Market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77656" y="461772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Profit over time as a line per player, plus a pie showing each player's share of total revenue.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Generated {{generatedOn}}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F2A43"/>
                </a:solidFill>
                <a:latin typeface="Century Schoolbook"/>
              </a:rPr>
              <a:t>Final Standings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63040"/>
            <a:ext cx="3383280" cy="1234440"/>
          </a:xfrm>
          <a:prstGeom prst="rect">
            <a:avLst/>
          </a:prstGeom>
          <a:solidFill>
            <a:srgbClr val="F3F6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6276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  <a:latin typeface="Calibri"/>
              </a:rPr>
              <a:t>WINNER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938528"/>
            <a:ext cx="2743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entury Schoolbook"/>
              </a:rPr>
              <a:t>{{topPerformer}}</a:t>
            </a:r>
          </a:p>
        </p:txBody>
      </p:sp>
      <p:sp>
        <p:nvSpPr>
          <p:cNvPr id="7" name="Rectangle 6"/>
          <p:cNvSpPr/>
          <p:nvPr/>
        </p:nvSpPr>
        <p:spPr>
          <a:xfrm>
            <a:off x="4590288" y="1463040"/>
            <a:ext cx="3383280" cy="1234440"/>
          </a:xfrm>
          <a:prstGeom prst="rect">
            <a:avLst/>
          </a:prstGeom>
          <a:solidFill>
            <a:srgbClr val="F3F6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10328" y="16276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563EB"/>
                </a:solidFill>
                <a:latin typeface="Calibri"/>
              </a:rPr>
              <a:t>WINNING PROFIT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10328" y="1938528"/>
            <a:ext cx="2743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entury Schoolbook"/>
              </a:rPr>
              <a:t>{{topProfit}}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57616" y="1463040"/>
            <a:ext cx="3383280" cy="1234440"/>
          </a:xfrm>
          <a:prstGeom prst="rect">
            <a:avLst/>
          </a:prstGeom>
          <a:solidFill>
            <a:srgbClr val="F3F6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77656" y="16276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6A34A"/>
                </a:solidFill>
                <a:latin typeface="Calibri"/>
              </a:rPr>
              <a:t>AVERAGE PROFIT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77656" y="1938528"/>
            <a:ext cx="2743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entury Schoolbook"/>
              </a:rPr>
              <a:t>{{averageProfit}}</a:t>
            </a:r>
          </a:p>
        </p:txBody>
      </p:sp>
      <p:graphicFrame>
        <p:nvGraphicFramePr>
          <p:cNvPr id="13" name="FinalStandings"/>
          <p:cNvGraphicFramePr>
            <a:graphicFrameLocks noGrp="1"/>
          </p:cNvGraphicFramePr>
          <p:nvPr/>
        </p:nvGraphicFramePr>
        <p:xfrm>
          <a:off x="822960" y="3063240"/>
          <a:ext cx="108813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3657600"/>
                <a:gridCol w="1188720"/>
                <a:gridCol w="1554480"/>
                <a:gridCol w="1737360"/>
                <a:gridCol w="1737360"/>
              </a:tblGrid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anchor="ctr"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Player</a:t>
                      </a:r>
                    </a:p>
                  </a:txBody>
                  <a:tcPr anchor="ctr"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Rounds</a:t>
                      </a:r>
                    </a:p>
                  </a:txBody>
                  <a:tcPr anchor="ctr"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Avg. Price</a:t>
                      </a:r>
                    </a:p>
                  </a:txBody>
                  <a:tcPr anchor="ctr"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Total Revenue</a:t>
                      </a:r>
                    </a:p>
                  </a:txBody>
                  <a:tcPr anchor="ctr"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Total Profit</a:t>
                      </a:r>
                    </a:p>
                  </a:txBody>
                  <a:tcPr anchor="ctr">
                    <a:solidFill>
                      <a:srgbClr val="0F2A43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Sample Player 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$142.00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$1,240,000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$486,000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Sample Player B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$128.50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$1,180,000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$421,500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Sample Player 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$155.00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$980,000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$362,000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Sample Player D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$119.00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$1,050,000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$318,750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F2A43"/>
                </a:solidFill>
                <a:latin typeface="Century Schoolbook"/>
              </a:rPr>
              <a:t>Profit by Player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Calibri"/>
              </a:rPr>
              <a:t>Cumulative profit across every round played.</a:t>
            </a:r>
          </a:p>
        </p:txBody>
      </p:sp>
      <p:graphicFrame>
        <p:nvGraphicFramePr>
          <p:cNvPr id="5" name="ProfitByParticipant"/>
          <p:cNvGraphicFramePr>
            <a:graphicFrameLocks noGrp="1"/>
          </p:cNvGraphicFramePr>
          <p:nvPr/>
        </p:nvGraphicFramePr>
        <p:xfrm>
          <a:off x="822960" y="2011680"/>
          <a:ext cx="1051560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F2A43"/>
                </a:solidFill>
                <a:latin typeface="Century Schoolbook"/>
              </a:rPr>
              <a:t>The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2A43"/>
                </a:solidFill>
                <a:latin typeface="Century Schoolbook"/>
              </a:rPr>
              <a:t>Profit over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4173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2A43"/>
                </a:solidFill>
                <a:latin typeface="Century Schoolbook"/>
              </a:rPr>
              <a:t>Revenue share</a:t>
            </a:r>
          </a:p>
        </p:txBody>
      </p:sp>
      <p:graphicFrame>
        <p:nvGraphicFramePr>
          <p:cNvPr id="6" name="ProfitOverTime"/>
          <p:cNvGraphicFramePr>
            <a:graphicFrameLocks noGrp="1"/>
          </p:cNvGraphicFramePr>
          <p:nvPr/>
        </p:nvGraphicFramePr>
        <p:xfrm>
          <a:off x="822960" y="1965960"/>
          <a:ext cx="539496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RevenueShare"/>
          <p:cNvGraphicFramePr>
            <a:graphicFrameLocks noGrp="1"/>
          </p:cNvGraphicFramePr>
          <p:nvPr/>
        </p:nvGraphicFramePr>
        <p:xfrm>
          <a:off x="6400800" y="1965960"/>
          <a:ext cx="493776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